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89" r:id="rId5"/>
    <p:sldId id="342" r:id="rId6"/>
    <p:sldId id="340" r:id="rId7"/>
    <p:sldId id="329" r:id="rId8"/>
    <p:sldId id="33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27" autoAdjust="0"/>
  </p:normalViewPr>
  <p:slideViewPr>
    <p:cSldViewPr snapToGrid="0">
      <p:cViewPr>
        <p:scale>
          <a:sx n="73" d="100"/>
          <a:sy n="73" d="100"/>
        </p:scale>
        <p:origin x="1042" y="91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10/12/2025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10/12/2025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446CD-193F-D508-83A2-688418E8E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F6648-B65B-F500-07C5-BE205EA5F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B70F4-D7FB-22A4-E1B8-CE303E1CB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ABDBF-43B8-AB64-C4C9-3B7DF6EA3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186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71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8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Research Question – </a:t>
            </a:r>
            <a:br>
              <a:rPr lang="en-US"/>
            </a:br>
            <a:r>
              <a:rPr lang="en-US" sz="4000"/>
              <a:t>Tutorial Presentation for Feedback</a:t>
            </a:r>
            <a:br>
              <a:rPr lang="en-US" sz="4000"/>
            </a:br>
            <a:r>
              <a:rPr lang="en-US" sz="2200"/>
              <a:t>Date: </a:t>
            </a:r>
            <a:br>
              <a:rPr lang="en-US" sz="8000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3999" y="1890000"/>
            <a:ext cx="10756555" cy="360000"/>
          </a:xfrm>
        </p:spPr>
        <p:txBody>
          <a:bodyPr/>
          <a:lstStyle/>
          <a:p>
            <a:r>
              <a:rPr lang="en-US" sz="2000" dirty="0"/>
              <a:t>Group Name:   A179                                  Name of Student Presenting: </a:t>
            </a:r>
            <a:r>
              <a:rPr lang="en-US" sz="2000" dirty="0" err="1"/>
              <a:t>Nandharapu</a:t>
            </a:r>
            <a:r>
              <a:rPr lang="en-US" sz="2000" dirty="0"/>
              <a:t> Prasanth </a:t>
            </a:r>
            <a:r>
              <a:rPr lang="en-US" sz="2000" dirty="0" err="1"/>
              <a:t>kumar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683" y="187036"/>
            <a:ext cx="11057174" cy="823529"/>
          </a:xfrm>
        </p:spPr>
        <p:txBody>
          <a:bodyPr/>
          <a:lstStyle/>
          <a:p>
            <a:r>
              <a:rPr lang="en-GB" dirty="0"/>
              <a:t>7COM1079-2025  Student Group No: A179</a:t>
            </a:r>
          </a:p>
          <a:p>
            <a:r>
              <a:rPr lang="en-GB" dirty="0"/>
              <a:t>Names of Student Attendees: </a:t>
            </a:r>
            <a:r>
              <a:rPr lang="en-GB" dirty="0" err="1"/>
              <a:t>Nandharapu</a:t>
            </a:r>
            <a:r>
              <a:rPr lang="en-GB" dirty="0"/>
              <a:t> Prasanth </a:t>
            </a:r>
            <a:r>
              <a:rPr lang="en-GB" dirty="0" err="1"/>
              <a:t>kumar</a:t>
            </a:r>
            <a:r>
              <a:rPr lang="en-GB" dirty="0"/>
              <a:t> (24077382), Vamshi Krishna </a:t>
            </a:r>
            <a:r>
              <a:rPr lang="en-GB" dirty="0" err="1"/>
              <a:t>Thanneeru</a:t>
            </a:r>
            <a:r>
              <a:rPr lang="en-GB" dirty="0"/>
              <a:t>(</a:t>
            </a:r>
            <a:r>
              <a:rPr lang="en-US" dirty="0"/>
              <a:t>24071911</a:t>
            </a:r>
            <a:r>
              <a:rPr lang="en-GB" dirty="0"/>
              <a:t>), Zakir Mohammad (24004714), Praveen Kumar </a:t>
            </a:r>
            <a:r>
              <a:rPr lang="en-GB" dirty="0" err="1"/>
              <a:t>Gowridevi</a:t>
            </a:r>
            <a:r>
              <a:rPr lang="en-GB" dirty="0"/>
              <a:t> (24085035),</a:t>
            </a:r>
            <a:r>
              <a:rPr lang="en-US" dirty="0"/>
              <a:t> Vijay Kumar </a:t>
            </a:r>
            <a:r>
              <a:rPr lang="en-US" dirty="0" err="1"/>
              <a:t>Kantamaneni</a:t>
            </a:r>
            <a:r>
              <a:rPr lang="en-US" dirty="0"/>
              <a:t> ( 24072033)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5649-0EDD-479D-A10D-5D1B9960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E914452-B270-04E9-2E26-B5EE6E05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solidFill>
                  <a:srgbClr val="203232"/>
                </a:solidFill>
                <a:cs typeface="Arial"/>
              </a:rPr>
              <a:t>Here is a sample of our dataset (first 5 rows):</a:t>
            </a:r>
          </a:p>
          <a:p>
            <a:pPr>
              <a:spcAft>
                <a:spcPts val="0"/>
              </a:spcAft>
            </a:pPr>
            <a:endParaRPr lang="en-GB" sz="1200" dirty="0">
              <a:solidFill>
                <a:schemeClr val="tx1"/>
              </a:solidFill>
              <a:cs typeface="Arial"/>
            </a:endParaRPr>
          </a:p>
          <a:p>
            <a:pPr>
              <a:spcAft>
                <a:spcPts val="0"/>
              </a:spcAft>
            </a:pPr>
            <a:endParaRPr lang="en-GB" sz="1800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4979F-163B-0875-281D-8E94EC58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A179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90C69-06C0-E50A-24F0-37D4F74B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144FA96-8B6B-4DBC-3FFD-E1A2B48DC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884" y="2089858"/>
            <a:ext cx="10274316" cy="3334549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  <a:spcBef>
                <a:spcPts val="0"/>
              </a:spcBef>
              <a:spcAft>
                <a:spcPts val="992"/>
              </a:spcAft>
            </a:pPr>
            <a:br>
              <a:rPr lang="en-US" sz="3600" dirty="0"/>
            </a:br>
            <a:br>
              <a:rPr lang="en-GB" sz="3600" dirty="0">
                <a:solidFill>
                  <a:srgbClr val="FF0000"/>
                </a:solidFill>
                <a:cs typeface="Arial"/>
              </a:rPr>
            </a:br>
            <a:endParaRPr lang="en-GB" sz="3600" dirty="0">
              <a:solidFill>
                <a:srgbClr val="FF0000"/>
              </a:solidFill>
              <a:cs typeface="Arial"/>
            </a:endParaRPr>
          </a:p>
          <a:p>
            <a:endParaRPr lang="en-US" dirty="0">
              <a:solidFill>
                <a:srgbClr val="FF0000"/>
              </a:solidFill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BEEF9-B4A1-D312-0A06-E3C5B832F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4" y="1080637"/>
            <a:ext cx="11043616" cy="384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4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solidFill>
                  <a:srgbClr val="203232"/>
                </a:solidFill>
                <a:cs typeface="Arial"/>
              </a:rPr>
              <a:t>Information about Dataset: </a:t>
            </a:r>
            <a:endParaRPr lang="en-GB" sz="1800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A179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E140EA5-BB03-811F-4631-603A97631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884" y="2089858"/>
            <a:ext cx="9965844" cy="2649857"/>
          </a:xfrm>
        </p:spPr>
        <p:txBody>
          <a:bodyPr>
            <a:normAutofit/>
          </a:bodyPr>
          <a:lstStyle/>
          <a:p>
            <a:pPr fontAlgn="base">
              <a:lnSpc>
                <a:spcPts val="1987"/>
              </a:lnSpc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Columns chosen for the visualization:</a:t>
            </a:r>
            <a:b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</a:br>
            <a:b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Price — Dependent Variable</a:t>
            </a:r>
            <a:b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</a:br>
            <a:b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Mileage — Independent Variable</a:t>
            </a:r>
            <a:r>
              <a:rPr lang="en-US" sz="2800" b="0" dirty="0">
                <a:solidFill>
                  <a:srgbClr val="203232"/>
                </a:solidFill>
                <a:latin typeface="Arial" panose="020B0604020202020204" pitchFamily="34" charset="0"/>
              </a:rPr>
              <a:t>​</a:t>
            </a:r>
            <a:br>
              <a:rPr lang="en-US" sz="2800" b="0" dirty="0">
                <a:solidFill>
                  <a:srgbClr val="203232"/>
                </a:solidFill>
                <a:latin typeface="Arial" panose="020B0604020202020204" pitchFamily="34" charset="0"/>
              </a:rPr>
            </a:br>
            <a:r>
              <a:rPr lang="en-US" sz="2800" b="0" dirty="0">
                <a:solidFill>
                  <a:srgbClr val="203232"/>
                </a:solidFill>
                <a:latin typeface="Arial" panose="020B0604020202020204" pitchFamily="34" charset="0"/>
              </a:rPr>
              <a:t>​</a:t>
            </a:r>
            <a:br>
              <a:rPr lang="en-US" sz="2800" b="0" dirty="0">
                <a:solidFill>
                  <a:srgbClr val="203232"/>
                </a:solidFill>
                <a:latin typeface="Arial" panose="020B0604020202020204" pitchFamily="34" charset="0"/>
              </a:rPr>
            </a:br>
            <a:r>
              <a:rPr lang="en-GB" sz="2800" dirty="0">
                <a:solidFill>
                  <a:srgbClr val="FF0000"/>
                </a:solidFill>
                <a:latin typeface="Arial" panose="020B0604020202020204" pitchFamily="34" charset="0"/>
              </a:rPr>
              <a:t>Total Rows: 17,965 and 9 columns</a:t>
            </a:r>
            <a:r>
              <a:rPr lang="en-GB" sz="2800" b="0" dirty="0">
                <a:solidFill>
                  <a:srgbClr val="203232"/>
                </a:solidFill>
                <a:latin typeface="Arial" panose="020B0604020202020204" pitchFamily="34" charset="0"/>
              </a:rPr>
              <a:t>​</a:t>
            </a:r>
            <a:br>
              <a:rPr lang="en-GB" sz="2800" b="0" dirty="0">
                <a:solidFill>
                  <a:srgbClr val="203232"/>
                </a:solidFill>
                <a:latin typeface="Arial" panose="020B0604020202020204" pitchFamily="34" charset="0"/>
              </a:rPr>
            </a:br>
            <a:r>
              <a:rPr lang="en-GB" sz="2800" b="0" dirty="0">
                <a:solidFill>
                  <a:srgbClr val="203232"/>
                </a:solidFill>
                <a:latin typeface="Arial" panose="020B0604020202020204" pitchFamily="34" charset="0"/>
              </a:rPr>
              <a:t>​</a:t>
            </a:r>
            <a:endParaRPr lang="en-US" sz="2800" dirty="0">
              <a:solidFill>
                <a:srgbClr val="FF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09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285092"/>
            <a:ext cx="10110240" cy="58802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Dataset </a:t>
            </a:r>
            <a:r>
              <a:rPr lang="en-US" dirty="0">
                <a:solidFill>
                  <a:srgbClr val="203232"/>
                </a:solidFill>
              </a:rPr>
              <a:t>ID</a:t>
            </a:r>
            <a:r>
              <a:rPr lang="en-US" sz="1600" dirty="0">
                <a:solidFill>
                  <a:srgbClr val="FF0000"/>
                </a:solidFill>
              </a:rPr>
              <a:t>:   </a:t>
            </a:r>
            <a:r>
              <a:rPr lang="en-US" sz="2400" dirty="0">
                <a:solidFill>
                  <a:srgbClr val="FF0000"/>
                </a:solidFill>
              </a:rPr>
              <a:t>(ds179 – 100,000 UK Used Car Dataset (Ford)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344764"/>
            <a:ext cx="10612024" cy="190770"/>
          </a:xfrm>
        </p:spPr>
        <p:txBody>
          <a:bodyPr/>
          <a:lstStyle/>
          <a:p>
            <a:r>
              <a:rPr lang="en-GB" dirty="0"/>
              <a:t>7COM1079-2025  Student Group No: A179                 </a:t>
            </a:r>
          </a:p>
          <a:p>
            <a:r>
              <a:rPr lang="en-GB" dirty="0"/>
              <a:t>Names of Student Attendees: </a:t>
            </a:r>
            <a:r>
              <a:rPr lang="en-GB" dirty="0" err="1"/>
              <a:t>Nandharapu</a:t>
            </a:r>
            <a:r>
              <a:rPr lang="en-GB" dirty="0"/>
              <a:t> Prasanth </a:t>
            </a:r>
            <a:r>
              <a:rPr lang="en-GB" dirty="0" err="1"/>
              <a:t>kumar</a:t>
            </a:r>
            <a:r>
              <a:rPr lang="en-GB" dirty="0"/>
              <a:t> (24077382), Vamshi Krishna </a:t>
            </a:r>
            <a:r>
              <a:rPr lang="en-GB" dirty="0" err="1"/>
              <a:t>Thanneeru</a:t>
            </a:r>
            <a:r>
              <a:rPr lang="en-GB" dirty="0"/>
              <a:t>(</a:t>
            </a:r>
            <a:r>
              <a:rPr lang="en-US" dirty="0"/>
              <a:t>24071911</a:t>
            </a:r>
            <a:r>
              <a:rPr lang="en-GB" dirty="0"/>
              <a:t>), Zakir Mohammad (24004714), Praveen Kumar </a:t>
            </a:r>
            <a:r>
              <a:rPr lang="en-GB" dirty="0" err="1"/>
              <a:t>Gowridevi</a:t>
            </a:r>
            <a:r>
              <a:rPr lang="en-GB" dirty="0"/>
              <a:t> (24085035),</a:t>
            </a:r>
            <a:r>
              <a:rPr lang="en-US" dirty="0"/>
              <a:t> Vijay Kumar </a:t>
            </a:r>
            <a:r>
              <a:rPr lang="en-US" dirty="0" err="1"/>
              <a:t>Kantamaneni</a:t>
            </a:r>
            <a:r>
              <a:rPr lang="en-US" dirty="0"/>
              <a:t> ( 24072033)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4512" y="555565"/>
            <a:ext cx="622800" cy="230832"/>
          </a:xfrm>
        </p:spPr>
        <p:txBody>
          <a:bodyPr/>
          <a:lstStyle/>
          <a:p>
            <a:r>
              <a:rPr lang="en-US"/>
              <a:t>2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FA3829-F12C-214D-8FBA-7E1A740F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88" y="2114402"/>
            <a:ext cx="10974945" cy="27746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dirty="0">
                <a:latin typeface="Calibri"/>
                <a:cs typeface="Calibri"/>
              </a:rPr>
              <a:t>This dataset is interesting to us because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(one sentence): It allows  us to analyze how mileage affects the price of used ford cars. </a:t>
            </a:r>
            <a:b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dirty="0">
                <a:latin typeface="Calibri"/>
                <a:cs typeface="Calibri"/>
              </a:rPr>
              <a:t>Our  Independent variable is: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mileage</a:t>
            </a:r>
            <a:br>
              <a:rPr lang="en-US" sz="2400" b="0" dirty="0">
                <a:latin typeface="Calibri"/>
                <a:cs typeface="Calibri"/>
              </a:rPr>
            </a:br>
            <a:r>
              <a:rPr lang="en-US" sz="2400" b="0" dirty="0">
                <a:latin typeface="Calibri"/>
                <a:cs typeface="Calibri"/>
              </a:rPr>
              <a:t>                  This  Independent variable datatype is (select one):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interval</a:t>
            </a:r>
            <a:b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</a:br>
            <a:r>
              <a:rPr lang="en-US" sz="2400" b="0" dirty="0">
                <a:latin typeface="Calibri"/>
                <a:cs typeface="Calibri"/>
              </a:rPr>
              <a:t>Our Dependent variable is: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Price</a:t>
            </a:r>
            <a:b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</a:b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                   </a:t>
            </a:r>
            <a:r>
              <a:rPr lang="en-US" sz="2400" b="0" dirty="0">
                <a:latin typeface="Calibri"/>
                <a:cs typeface="Calibri"/>
              </a:rPr>
              <a:t>This Dependent variable datatype is  (select one):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Interval</a:t>
            </a:r>
          </a:p>
        </p:txBody>
      </p:sp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GB" dirty="0"/>
              <a:t>Our Research Question is:</a:t>
            </a:r>
            <a:endParaRPr lang="en-GB" sz="18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A179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40DA25-F620-152B-DE9E-776F7B74D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159" y="1021854"/>
            <a:ext cx="10428724" cy="42858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br>
              <a:rPr lang="en-I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E" sz="2400" dirty="0">
                <a:effectLst/>
                <a:latin typeface="Calibri"/>
                <a:ea typeface="Calibri" panose="020F0502020204030204" pitchFamily="34" charset="0"/>
                <a:cs typeface="Times New Roman"/>
              </a:rPr>
              <a:t>Template : Interval  vs  interval (Correlation)</a:t>
            </a:r>
            <a:br>
              <a:rPr lang="en-IE" sz="2400" b="0" dirty="0">
                <a:effectLst/>
                <a:latin typeface="Calibri"/>
                <a:ea typeface="Calibri" panose="020F0502020204030204" pitchFamily="34" charset="0"/>
                <a:cs typeface="Times New Roman"/>
              </a:rPr>
            </a:br>
            <a:r>
              <a:rPr lang="en-US" sz="2400" dirty="0">
                <a:solidFill>
                  <a:srgbClr val="FF0000"/>
                </a:solidFill>
              </a:rPr>
              <a:t>Is there a significant relationship</a:t>
            </a:r>
            <a:r>
              <a:rPr lang="en-IN" sz="2400" dirty="0">
                <a:solidFill>
                  <a:srgbClr val="FF0000"/>
                </a:solidFill>
              </a:rPr>
              <a:t> between car mileage and car price in used ford vehicles?</a:t>
            </a:r>
            <a:br>
              <a:rPr lang="en-GB" sz="2400" b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b="0" dirty="0">
                <a:solidFill>
                  <a:srgbClr val="FF0000"/>
                </a:solidFill>
                <a:cs typeface="Arial"/>
              </a:rPr>
              <a:t>Null hypothesis (H</a:t>
            </a:r>
            <a:r>
              <a:rPr lang="en-GB" sz="2400" b="0" baseline="-25000" dirty="0">
                <a:solidFill>
                  <a:srgbClr val="FF0000"/>
                </a:solidFill>
                <a:cs typeface="Arial"/>
              </a:rPr>
              <a:t>0</a:t>
            </a:r>
            <a:r>
              <a:rPr lang="en-GB" sz="2400" b="0" dirty="0">
                <a:solidFill>
                  <a:srgbClr val="FF0000"/>
                </a:solidFill>
                <a:cs typeface="Arial"/>
              </a:rPr>
              <a:t>): There is no significant relationship (Correlation) between mileage and price of </a:t>
            </a:r>
            <a:r>
              <a:rPr lang="en-GB" sz="2400" b="0">
                <a:solidFill>
                  <a:srgbClr val="FF0000"/>
                </a:solidFill>
                <a:cs typeface="Arial"/>
              </a:rPr>
              <a:t>used Ford </a:t>
            </a:r>
            <a:r>
              <a:rPr lang="en-GB" sz="2400" b="0" dirty="0">
                <a:solidFill>
                  <a:srgbClr val="FF0000"/>
                </a:solidFill>
                <a:cs typeface="Arial"/>
              </a:rPr>
              <a:t>cars.</a:t>
            </a:r>
            <a:br>
              <a:rPr lang="en-GB" sz="2400" b="0" dirty="0">
                <a:cs typeface="Arial"/>
              </a:rPr>
            </a:br>
            <a:r>
              <a:rPr lang="en-GB" sz="2400" b="0" dirty="0">
                <a:solidFill>
                  <a:srgbClr val="FF0000"/>
                </a:solidFill>
                <a:cs typeface="Arial"/>
              </a:rPr>
              <a:t>Alternative hypothesis (H</a:t>
            </a:r>
            <a:r>
              <a:rPr lang="en-GB" sz="2400" b="0" baseline="-25000" dirty="0">
                <a:solidFill>
                  <a:srgbClr val="FF0000"/>
                </a:solidFill>
                <a:cs typeface="Arial"/>
              </a:rPr>
              <a:t>1</a:t>
            </a:r>
            <a:r>
              <a:rPr lang="en-GB" sz="2400" b="0" dirty="0">
                <a:solidFill>
                  <a:srgbClr val="FF0000"/>
                </a:solidFill>
                <a:cs typeface="Arial"/>
              </a:rPr>
              <a:t>):</a:t>
            </a:r>
            <a:r>
              <a:rPr lang="en-US" sz="2400" b="0" dirty="0">
                <a:solidFill>
                  <a:srgbClr val="FF0000"/>
                </a:solidFill>
                <a:cs typeface="Arial"/>
              </a:rPr>
              <a:t> There is  a significant relationship (correlation) between mileage and price of used Ford cars.</a:t>
            </a:r>
            <a:br>
              <a:rPr lang="en-GB" sz="2400" b="0" dirty="0">
                <a:solidFill>
                  <a:srgbClr val="FF0000"/>
                </a:solidFill>
                <a:cs typeface="Arial"/>
              </a:rPr>
            </a:b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4612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D1FC41-23C7-41B0-B5F9-BF4CD38AD2ED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3c474641-ec36-472f-b125-6b1b0910eaa4"/>
    <ds:schemaRef ds:uri="http://purl.org/dc/elements/1.1/"/>
    <ds:schemaRef ds:uri="4ad138b4-2b68-4b70-945d-07f8f18b1c9a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3e6beba-c4aa-4731-af5d-d735b097eadb}" enabled="0" method="" siteId="{93e6beba-c4aa-4731-af5d-d735b097ea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1654</TotalTime>
  <Words>342</Words>
  <Application>Microsoft Office PowerPoint</Application>
  <PresentationFormat>Widescreen</PresentationFormat>
  <Paragraphs>26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Herts Theme</vt:lpstr>
      <vt:lpstr>Research Question –  Tutorial Presentation for Feedback Date:  </vt:lpstr>
      <vt:lpstr>   </vt:lpstr>
      <vt:lpstr>Columns chosen for the visualization:  Price — Dependent Variable  Mileage — Independent Variable​ ​ Total Rows: 17,965 and 9 columns​ ​</vt:lpstr>
      <vt:lpstr>This dataset is interesting to us because (one sentence): It allows  us to analyze how mileage affects the price of used ford cars.  Our  Independent variable is: mileage                   This  Independent variable datatype is (select one): interval Our Dependent variable is: Price                    This Dependent variable datatype is  (select one): Interval</vt:lpstr>
      <vt:lpstr>  Template : Interval  vs  interval (Correlation) Is there a significant relationship between car mileage and car price in used ford vehicles?  Null hypothesis (H0): There is no significant relationship (Correlation) between mileage and price of used Ford cars. Alternative hypothesis (H1): There is  a significant relationship (correlation) between mileage and price of used Ford cars.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VAMSHI KRISHNA</cp:lastModifiedBy>
  <cp:revision>135</cp:revision>
  <dcterms:created xsi:type="dcterms:W3CDTF">2019-10-01T08:37:56Z</dcterms:created>
  <dcterms:modified xsi:type="dcterms:W3CDTF">2025-12-10T15:15:47Z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